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6858000" cx="12192000"/>
  <p:notesSz cx="6858000" cy="9144000"/>
  <p:embeddedFontLst>
    <p:embeddedFont>
      <p:font typeface="Plus Jakarta Sans"/>
      <p:regular r:id="rId9"/>
      <p:bold r:id="rId10"/>
      <p:italic r:id="rId11"/>
      <p:boldItalic r:id="rId12"/>
    </p:embeddedFont>
    <p:embeddedFont>
      <p:font typeface="Lora SemiBold"/>
      <p:regular r:id="rId13"/>
      <p:bold r:id="rId14"/>
      <p:italic r:id="rId15"/>
      <p:boldItalic r:id="rId16"/>
    </p:embeddedFont>
    <p:embeddedFont>
      <p:font typeface="Lora"/>
      <p:regular r:id="rId17"/>
      <p:bold r:id="rId18"/>
      <p:italic r:id="rId19"/>
      <p:boldItalic r:id="rId20"/>
    </p:embeddedFont>
    <p:embeddedFont>
      <p:font typeface="Yanone Kaffeesatz"/>
      <p:regular r:id="rId21"/>
      <p:bold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9F18E6-9835-43A8-961A-B90501D8202E}">
  <a:tblStyle styleId="{D29F18E6-9835-43A8-961A-B90501D820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boldItalic.fntdata"/><Relationship Id="rId11" Type="http://schemas.openxmlformats.org/officeDocument/2006/relationships/font" Target="fonts/PlusJakartaSans-italic.fntdata"/><Relationship Id="rId22" Type="http://schemas.openxmlformats.org/officeDocument/2006/relationships/font" Target="fonts/YanoneKaffeesatz-bold.fntdata"/><Relationship Id="rId10" Type="http://schemas.openxmlformats.org/officeDocument/2006/relationships/font" Target="fonts/PlusJakartaSans-bold.fntdata"/><Relationship Id="rId21" Type="http://schemas.openxmlformats.org/officeDocument/2006/relationships/font" Target="fonts/YanoneKaffeesatz-regular.fntdata"/><Relationship Id="rId13" Type="http://schemas.openxmlformats.org/officeDocument/2006/relationships/font" Target="fonts/LoraSemiBold-regular.fntdata"/><Relationship Id="rId24" Type="http://schemas.openxmlformats.org/officeDocument/2006/relationships/font" Target="fonts/SpaceGrotesk-bold.fntdata"/><Relationship Id="rId12" Type="http://schemas.openxmlformats.org/officeDocument/2006/relationships/font" Target="fonts/PlusJakartaSans-boldItalic.fntdata"/><Relationship Id="rId23" Type="http://schemas.openxmlformats.org/officeDocument/2006/relationships/font" Target="fonts/Space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PlusJakartaSans-regular.fntdata"/><Relationship Id="rId15" Type="http://schemas.openxmlformats.org/officeDocument/2006/relationships/font" Target="fonts/LoraSemiBold-italic.fntdata"/><Relationship Id="rId14" Type="http://schemas.openxmlformats.org/officeDocument/2006/relationships/font" Target="fonts/LoraSemiBold-bold.fntdata"/><Relationship Id="rId17" Type="http://schemas.openxmlformats.org/officeDocument/2006/relationships/font" Target="fonts/Lora-regular.fntdata"/><Relationship Id="rId16" Type="http://schemas.openxmlformats.org/officeDocument/2006/relationships/font" Target="fonts/LoraSemiBold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ora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or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11" Type="http://schemas.openxmlformats.org/officeDocument/2006/relationships/image" Target="../media/image8.png"/><Relationship Id="rId10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33400" y="6143625"/>
            <a:ext cx="11125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656415" y="419100"/>
            <a:ext cx="2002184" cy="523875"/>
          </a:xfrm>
          <a:prstGeom prst="roundRect">
            <a:avLst>
              <a:gd fmla="val 18181" name="adj"/>
            </a:avLst>
          </a:prstGeom>
          <a:solidFill>
            <a:srgbClr val="FAFA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33400" y="6143625"/>
            <a:ext cx="111252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33400" y="419100"/>
            <a:ext cx="2228850" cy="28575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42925" y="2677715"/>
            <a:ext cx="333181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865215" y="1877615"/>
            <a:ext cx="9525" cy="8191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874740" y="2677715"/>
            <a:ext cx="55530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9418290" y="1877615"/>
            <a:ext cx="9525" cy="8191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9427815" y="2677715"/>
            <a:ext cx="222125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542925" y="3536751"/>
            <a:ext cx="33318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3865215" y="2696765"/>
            <a:ext cx="9525" cy="84951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874740" y="3536751"/>
            <a:ext cx="555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9418290" y="2696765"/>
            <a:ext cx="9525" cy="84951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427815" y="3536751"/>
            <a:ext cx="22212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542925" y="4386262"/>
            <a:ext cx="33318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3865215" y="3546276"/>
            <a:ext cx="9525" cy="84951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3874740" y="4386262"/>
            <a:ext cx="555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9418290" y="3546276"/>
            <a:ext cx="9525" cy="84951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9427815" y="4386262"/>
            <a:ext cx="22212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542925" y="5035748"/>
            <a:ext cx="33318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3865215" y="4395787"/>
            <a:ext cx="9525" cy="6494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3874740" y="5035748"/>
            <a:ext cx="555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9418290" y="4395787"/>
            <a:ext cx="9525" cy="64948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9427815" y="5035748"/>
            <a:ext cx="22212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3865215" y="5045273"/>
            <a:ext cx="9525" cy="639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9418290" y="5045273"/>
            <a:ext cx="9525" cy="639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9637365" y="2968228"/>
            <a:ext cx="1571625" cy="297060"/>
          </a:xfrm>
          <a:prstGeom prst="roundRect">
            <a:avLst>
              <a:gd fmla="val 19238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9637365" y="3817739"/>
            <a:ext cx="1181100" cy="297060"/>
          </a:xfrm>
          <a:prstGeom prst="roundRect">
            <a:avLst>
              <a:gd fmla="val 1923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9637365" y="4567237"/>
            <a:ext cx="1352550" cy="297060"/>
          </a:xfrm>
          <a:prstGeom prst="roundRect">
            <a:avLst>
              <a:gd fmla="val 1923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9637365" y="5216723"/>
            <a:ext cx="1352550" cy="297060"/>
          </a:xfrm>
          <a:prstGeom prst="roundRect">
            <a:avLst>
              <a:gd fmla="val 1923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7390" y="557212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" y="495300"/>
            <a:ext cx="133350" cy="13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" name="Google Shape;116;p13"/>
          <p:cNvGraphicFramePr/>
          <p:nvPr/>
        </p:nvGraphicFramePr>
        <p:xfrm>
          <a:off x="533400" y="1868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{D29F18E6-9835-43A8-961A-B90501D8202E}</a:tableStyleId>
              </a:tblPr>
              <a:tblGrid>
                <a:gridCol w="3596025"/>
                <a:gridCol w="5707975"/>
                <a:gridCol w="1802150"/>
              </a:tblGrid>
              <a:tr h="76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Hardware</a:t>
                      </a:r>
                      <a:r>
                        <a:rPr b="1" lang="en-US" sz="1425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/</a:t>
                      </a: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Software </a:t>
                      </a: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Component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How this component affects performance?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Where to learn?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76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Algorithm</a:t>
                      </a:r>
                      <a:r>
                        <a:rPr lang="en-US" sz="1350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/</a:t>
                      </a: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Source-Level </a:t>
                      </a:r>
                      <a:r>
                        <a:rPr lang="en-US" sz="1350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Statements</a:t>
                      </a:r>
                      <a:endParaRPr b="1" sz="1100">
                        <a:solidFill>
                          <a:srgbClr val="351C75"/>
                        </a:solidFill>
                        <a:highlight>
                          <a:srgbClr val="D9D2E9"/>
                        </a:highlight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algorithm here simply refers to the original program itself. </a:t>
                      </a:r>
                      <a:r>
                        <a:rPr i="1" lang="en-US" sz="12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more optimized the algorithm the better the performance.</a:t>
                      </a:r>
                      <a:r>
                        <a:rPr b="1" i="1" lang="en-US" sz="12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Determines </a:t>
                      </a:r>
                      <a:r>
                        <a:rPr b="1" i="1" lang="en-US" sz="12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</a:t>
                      </a:r>
                      <a:r>
                        <a:rPr b="1" i="1" lang="en-US" sz="12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#operations &amp; complexity of the program / functions.</a:t>
                      </a:r>
                      <a:endParaRPr b="1" i="1" sz="1250">
                        <a:solidFill>
                          <a:srgbClr val="334155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674EA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cse221</a:t>
                      </a:r>
                      <a:endParaRPr sz="1500" u="none" cap="none" strike="noStrike">
                        <a:solidFill>
                          <a:srgbClr val="674EA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Programming Language, </a:t>
                      </a:r>
                      <a:b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</a:b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Compiler </a:t>
                      </a:r>
                      <a:r>
                        <a:rPr lang="en-US" sz="1350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&amp; </a:t>
                      </a: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architecture</a:t>
                      </a:r>
                      <a:endParaRPr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software tools used to write and convert the program into machine instructions. </a:t>
                      </a:r>
                      <a:r>
                        <a:rPr b="1" i="1" lang="en-US" sz="12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Determines the #machine-instructions to be executed for the program written / for each function / statement.</a:t>
                      </a:r>
                      <a:endParaRPr b="1" i="1" sz="1250">
                        <a:solidFill>
                          <a:srgbClr val="334155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Chapter 2 &amp; 3</a:t>
                      </a:r>
                      <a:endParaRPr u="none" cap="none" strike="noStrike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6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Processor </a:t>
                      </a:r>
                      <a:r>
                        <a:rPr lang="en-US" sz="1350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+ M</a:t>
                      </a: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emory system</a:t>
                      </a:r>
                      <a:endParaRPr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Determines how fast instructions can be executed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Chapter 4, 5, 6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I/O system </a:t>
                      </a:r>
                      <a:r>
                        <a:rPr lang="en-US" sz="1350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+ </a:t>
                      </a:r>
                      <a:r>
                        <a:rPr i="0" lang="en-US" sz="1350" u="none" cap="none" strike="noStrike">
                          <a:solidFill>
                            <a:srgbClr val="0F172A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OS</a:t>
                      </a:r>
                      <a:endParaRPr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How efficiently the system can handle the input and output operations.</a:t>
                      </a:r>
                      <a:endParaRPr sz="1250">
                        <a:solidFill>
                          <a:srgbClr val="334155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Chapter 4, 5, 6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13"/>
          <p:cNvSpPr txBox="1"/>
          <p:nvPr/>
        </p:nvSpPr>
        <p:spPr>
          <a:xfrm>
            <a:off x="533400" y="6267450"/>
            <a:ext cx="514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Organization &amp; Design </a:t>
            </a:r>
            <a:r>
              <a:rPr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Patterson &amp; Hennessy - RISC-V Edition (2021)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9084888" y="6267450"/>
            <a:ext cx="2676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Generated using Gemini  3.8 Flash + Edited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533400" y="704850"/>
            <a:ext cx="691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Understanding Performance</a:t>
            </a:r>
            <a:br>
              <a:rPr b="1" i="0" lang="en-US" sz="315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i="0" lang="en-US" sz="2250" u="none" cap="none" strike="noStrik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(PBK</a:t>
            </a:r>
            <a:r>
              <a:rPr b="1" lang="en-US" sz="225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 HandOut Edition)</a:t>
            </a:r>
            <a:endParaRPr sz="500">
              <a:solidFill>
                <a:schemeClr val="accent4"/>
              </a:solidFill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857250" y="476250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ARCHITECTURE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10266015" y="523875"/>
            <a:ext cx="15145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BRAC UNIVERSITY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10266015" y="695325"/>
            <a:ext cx="15145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Inspiring Excellence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2970425" y="3307163"/>
            <a:ext cx="689700" cy="177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50">
                <a:solidFill>
                  <a:srgbClr val="20124D"/>
                </a:solidFill>
                <a:latin typeface="Lora"/>
                <a:ea typeface="Lora"/>
                <a:cs typeface="Lora"/>
                <a:sym typeface="Lora"/>
              </a:rPr>
              <a:t>Software</a:t>
            </a:r>
            <a:endParaRPr sz="33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2939375" y="4864300"/>
            <a:ext cx="751800" cy="177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74E13"/>
                </a:solidFill>
                <a:latin typeface="Lora"/>
                <a:ea typeface="Lora"/>
                <a:cs typeface="Lora"/>
                <a:sym typeface="Lora"/>
              </a:rPr>
              <a:t>Hardware</a:t>
            </a:r>
            <a:endParaRPr sz="3300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10754700" y="6429150"/>
            <a:ext cx="99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172A"/>
                </a:solidFill>
                <a:latin typeface="Yanone Kaffeesatz"/>
                <a:ea typeface="Yanone Kaffeesatz"/>
                <a:cs typeface="Yanone Kaffeesatz"/>
                <a:sym typeface="Yanone Kaffeesatz"/>
              </a:rPr>
              <a:t>19th October, 2026 </a:t>
            </a:r>
            <a:endParaRPr b="1">
              <a:latin typeface="Yanone Kaffeesatz"/>
              <a:ea typeface="Yanone Kaffeesatz"/>
              <a:cs typeface="Yanone Kaffeesatz"/>
              <a:sym typeface="Yanone Kaffeesatz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0201200" y="6579500"/>
            <a:ext cx="155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172A"/>
                </a:solidFill>
                <a:latin typeface="Yanone Kaffeesatz"/>
                <a:ea typeface="Yanone Kaffeesatz"/>
                <a:cs typeface="Yanone Kaffeesatz"/>
                <a:sym typeface="Yanone Kaffeesatz"/>
              </a:rPr>
              <a:t>CC-BY-NC-SA 4.0 — (Author: REYNEP)</a:t>
            </a:r>
            <a:endParaRPr b="1">
              <a:latin typeface="Yanone Kaffeesatz"/>
              <a:ea typeface="Yanone Kaffeesatz"/>
              <a:cs typeface="Yanone Kaffeesatz"/>
              <a:sym typeface="Yanone Kaffeesatz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/>
          <p:nvPr/>
        </p:nvSpPr>
        <p:spPr>
          <a:xfrm>
            <a:off x="533400" y="419100"/>
            <a:ext cx="2190750" cy="28575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533400" y="1562100"/>
            <a:ext cx="2638425" cy="4876800"/>
          </a:xfrm>
          <a:prstGeom prst="roundRect">
            <a:avLst>
              <a:gd fmla="val 433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3362325" y="1562100"/>
            <a:ext cx="2638425" cy="4876800"/>
          </a:xfrm>
          <a:prstGeom prst="roundRect">
            <a:avLst>
              <a:gd fmla="val 433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191250" y="1562100"/>
            <a:ext cx="2638425" cy="4876800"/>
          </a:xfrm>
          <a:prstGeom prst="roundRect">
            <a:avLst>
              <a:gd fmla="val 433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9020175" y="1562100"/>
            <a:ext cx="2638425" cy="4876800"/>
          </a:xfrm>
          <a:prstGeom prst="roundRect">
            <a:avLst>
              <a:gd fmla="val 433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71525" y="5857875"/>
            <a:ext cx="216217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3600450" y="5857875"/>
            <a:ext cx="216217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429375" y="5857875"/>
            <a:ext cx="216217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9258300" y="5857875"/>
            <a:ext cx="216217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49530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002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450" y="18002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18002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58300" y="18002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2012" y="19145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05225" y="191452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43675" y="19145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72600" y="19145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533400" y="8001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Factors Across the Stack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876300" y="476250"/>
            <a:ext cx="2166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STACK OVERVIEW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771525" y="5991225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CSE221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3600450" y="5991225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338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Chapters 2 &amp; 3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6429375" y="5991225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Chapters 4, 5 &amp; 6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9258300" y="5991225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Chapters 4, 5 &amp; 6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771525" y="2352675"/>
            <a:ext cx="28378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771525" y="2676525"/>
            <a:ext cx="2257425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Dictates total source statements and execution volume of I/O operations.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3600450" y="2352675"/>
            <a:ext cx="28378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Language &amp; Compiler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3600450" y="2676525"/>
            <a:ext cx="2257425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Determines machine instructions produced per statement.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6429375" y="2352675"/>
            <a:ext cx="28378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Processor &amp; Memory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6429375" y="2676525"/>
            <a:ext cx="2257425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Determines execution cycle throughput and memory latency.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9258300" y="2352675"/>
            <a:ext cx="2370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I/O &amp; Operating System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9258300" y="2905125"/>
            <a:ext cx="2257425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Dictates physical throughput and interrupt/driver overhead.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