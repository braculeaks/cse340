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us Jakarta Sans"/>
      <p:regular r:id="rId7"/>
      <p:bold r:id="rId8"/>
      <p:italic r:id="rId9"/>
      <p:boldItalic r:id="rId10"/>
    </p:embeddedFont>
    <p:embeddedFont>
      <p:font typeface="Space Grotesk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SpaceGrotesk-regular.fntdata"/><Relationship Id="rId10" Type="http://schemas.openxmlformats.org/officeDocument/2006/relationships/font" Target="fonts/PlusJakartaSans-boldItalic.fntdata"/><Relationship Id="rId12" Type="http://schemas.openxmlformats.org/officeDocument/2006/relationships/font" Target="fonts/SpaceGrotesk-bold.fntdata"/><Relationship Id="rId9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usJakartaSans-regular.fntdata"/><Relationship Id="rId8" Type="http://schemas.openxmlformats.org/officeDocument/2006/relationships/font" Target="fonts/PlusJakart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10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1525" y="1418500"/>
            <a:ext cx="3333300" cy="438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71500" y="4614850"/>
            <a:ext cx="110490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71525" y="1418500"/>
            <a:ext cx="38100" cy="43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498400" y="1964100"/>
            <a:ext cx="5131200" cy="2521800"/>
          </a:xfrm>
          <a:prstGeom prst="roundRect">
            <a:avLst>
              <a:gd fmla="val 31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71500" y="4614850"/>
            <a:ext cx="11049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895375" y="1986000"/>
            <a:ext cx="5131200" cy="762000"/>
          </a:xfrm>
          <a:prstGeom prst="roundRect">
            <a:avLst>
              <a:gd fmla="val 98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95350" y="2865775"/>
            <a:ext cx="5131200" cy="751200"/>
          </a:xfrm>
          <a:prstGeom prst="roundRect">
            <a:avLst>
              <a:gd fmla="val 98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895375" y="3749150"/>
            <a:ext cx="5131200" cy="736800"/>
          </a:xfrm>
          <a:prstGeom prst="roundRect">
            <a:avLst>
              <a:gd fmla="val 98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736677" y="4136488"/>
            <a:ext cx="46548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7736050" y="2443326"/>
            <a:ext cx="1333500" cy="285900"/>
          </a:xfrm>
          <a:prstGeom prst="roundRect">
            <a:avLst>
              <a:gd fmla="val 11538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307426" y="2786378"/>
            <a:ext cx="2190900" cy="342900"/>
          </a:xfrm>
          <a:prstGeom prst="roundRect">
            <a:avLst>
              <a:gd fmla="val 16666" name="adj"/>
            </a:avLst>
          </a:prstGeom>
          <a:solidFill>
            <a:srgbClr val="FB92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6878801" y="3186428"/>
            <a:ext cx="3048000" cy="342900"/>
          </a:xfrm>
          <a:prstGeom prst="roundRect">
            <a:avLst>
              <a:gd fmla="val 16666" name="adj"/>
            </a:avLst>
          </a:prstGeom>
          <a:solidFill>
            <a:srgbClr val="FDBA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2002550" y="2159666"/>
            <a:ext cx="1295400" cy="180900"/>
          </a:xfrm>
          <a:prstGeom prst="roundRect">
            <a:avLst>
              <a:gd fmla="val 21052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546500" y="3255763"/>
            <a:ext cx="1711200" cy="180900"/>
          </a:xfrm>
          <a:prstGeom prst="roundRect">
            <a:avLst>
              <a:gd fmla="val 21052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582000" y="4117375"/>
            <a:ext cx="1718100" cy="180900"/>
          </a:xfrm>
          <a:prstGeom prst="roundRect">
            <a:avLst>
              <a:gd fmla="val 21052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075" y="2150124"/>
            <a:ext cx="438600" cy="43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050" y="3027487"/>
            <a:ext cx="438600" cy="43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25" y="3865849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2496" y="2265545"/>
            <a:ext cx="207758" cy="207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4013" y="3142908"/>
            <a:ext cx="184674" cy="207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9067" y="3996191"/>
            <a:ext cx="234616" cy="234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6527" y="4232875"/>
            <a:ext cx="762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811150" y="1528924"/>
            <a:ext cx="2912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Programmers want memory </a:t>
            </a:r>
            <a:r>
              <a:rPr b="1" lang="en-US" sz="1275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be:</a:t>
            </a:r>
            <a:endParaRPr b="1"/>
          </a:p>
        </p:txBody>
      </p:sp>
      <p:sp>
        <p:nvSpPr>
          <p:cNvPr id="107" name="Google Shape;107;p13"/>
          <p:cNvSpPr txBox="1"/>
          <p:nvPr/>
        </p:nvSpPr>
        <p:spPr>
          <a:xfrm>
            <a:off x="4572000" y="4753263"/>
            <a:ext cx="7045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Idea:</a:t>
            </a:r>
            <a:r>
              <a:rPr b="0" i="0" lang="en-US" sz="13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 single technology is simultaneously fastest, largest, and cheapest.</a:t>
            </a:r>
            <a:endParaRPr sz="1800"/>
          </a:p>
        </p:txBody>
      </p:sp>
      <p:sp>
        <p:nvSpPr>
          <p:cNvPr id="108" name="Google Shape;108;p13"/>
          <p:cNvSpPr txBox="1"/>
          <p:nvPr/>
        </p:nvSpPr>
        <p:spPr>
          <a:xfrm>
            <a:off x="571500" y="762000"/>
            <a:ext cx="341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</a:t>
            </a:r>
            <a:r>
              <a:rPr b="1" lang="en-US" sz="28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y Hierarchy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727751" y="2123000"/>
            <a:ext cx="2096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Layered Pyramid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736627" y="3690991"/>
            <a:ext cx="475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Interpretation: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closer to the top, the faster and more expensive per bit. The wider the base of the layer, the larger the capacity.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618900" y="2452678"/>
            <a:ext cx="487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CPU can stall if memory not fast enough.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7645664" y="2511278"/>
            <a:ext cx="1514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Registers + </a:t>
            </a: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Cache 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7109783" y="2881628"/>
            <a:ext cx="2586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Main/</a:t>
            </a:r>
            <a:r>
              <a:rPr b="1" lang="en-US" sz="975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</a:t>
            </a:r>
            <a:r>
              <a:rPr b="1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Memory (DRAM)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6574001" y="3281678"/>
            <a:ext cx="3657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Secondary Memory: Storage: SSD / </a:t>
            </a:r>
            <a:r>
              <a:rPr b="1" i="0" lang="en-US" sz="975" u="none" cap="none" strike="noStrike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</a:t>
            </a:r>
            <a:r>
              <a:rPr b="1" lang="en-US" sz="975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DD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1609750" y="2147925"/>
            <a:ext cx="639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2078750" y="2178716"/>
            <a:ext cx="123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Affects</a:t>
            </a:r>
            <a:r>
              <a:rPr b="1" i="0" lang="en-US" sz="9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Performance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1609725" y="3027716"/>
            <a:ext cx="1550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Large in Capacity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1575000" y="3276913"/>
            <a:ext cx="1682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338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Limits the size of the problem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609750" y="3911078"/>
            <a:ext cx="127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Cheap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1618900" y="4136413"/>
            <a:ext cx="172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Memory Cost is a major factor</a:t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609600" y="457200"/>
            <a:ext cx="1752600" cy="28590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950" y="533400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/>
        </p:nvSpPr>
        <p:spPr>
          <a:xfrm>
            <a:off x="971550" y="514350"/>
            <a:ext cx="1571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GREAT IDEA #</a:t>
            </a:r>
            <a:r>
              <a:rPr b="1" lang="en-US" sz="1050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OF 7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9584407" y="533400"/>
            <a:ext cx="199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ARCHITECTURE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9203990" y="693900"/>
            <a:ext cx="237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Patterson &amp; Hennessy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6736525" y="4127398"/>
            <a:ext cx="44244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Inverse trade-off between speed/cost and capacity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9948825" y="2496350"/>
            <a:ext cx="399300" cy="180900"/>
          </a:xfrm>
          <a:prstGeom prst="roundRect">
            <a:avLst>
              <a:gd fmla="val 21052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0025025" y="2515400"/>
            <a:ext cx="323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10447325" y="2495300"/>
            <a:ext cx="417300" cy="180900"/>
          </a:xfrm>
          <a:prstGeom prst="roundRect">
            <a:avLst>
              <a:gd fmla="val 21052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10371900" y="2516450"/>
            <a:ext cx="5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338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Small</a:t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10937700" y="2496350"/>
            <a:ext cx="644700" cy="180900"/>
          </a:xfrm>
          <a:prstGeom prst="roundRect">
            <a:avLst>
              <a:gd fmla="val 21052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10974600" y="2515400"/>
            <a:ext cx="594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Expensive</a:t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10036700" y="3256300"/>
            <a:ext cx="399300" cy="180900"/>
          </a:xfrm>
          <a:prstGeom prst="roundRect">
            <a:avLst>
              <a:gd fmla="val 21052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0074800" y="3275350"/>
            <a:ext cx="323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</a:t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10535200" y="3255250"/>
            <a:ext cx="417300" cy="180900"/>
          </a:xfrm>
          <a:prstGeom prst="roundRect">
            <a:avLst>
              <a:gd fmla="val 21052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0459775" y="3276400"/>
            <a:ext cx="5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338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Large</a:t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11025575" y="3256300"/>
            <a:ext cx="438600" cy="180900"/>
          </a:xfrm>
          <a:prstGeom prst="roundRect">
            <a:avLst>
              <a:gd fmla="val 21052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1062475" y="3275350"/>
            <a:ext cx="40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Cheap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609625" y="5093600"/>
            <a:ext cx="11049000" cy="66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609625" y="5093600"/>
            <a:ext cx="38100" cy="66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838225" y="5246000"/>
            <a:ext cx="10725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</a:t>
            </a:r>
            <a:r>
              <a:rPr b="1" lang="en-US" sz="1275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Cache</a:t>
            </a:r>
            <a:r>
              <a:rPr b="1" i="0" lang="en-US" sz="12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creates an illusion for the programmer: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It keeps frequently accessed data in expensive, fast memory and less-used data in cheaper storage, making main memory appear almost as fast as cache and as vast/cheap as disk.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5138100" y="5888425"/>
            <a:ext cx="19158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Details: </a:t>
            </a:r>
            <a:r>
              <a:rPr lang="en-US" sz="137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Chapter 5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