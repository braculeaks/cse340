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Plus Jakarta Sans ExtraBold"/>
      <p:bold r:id="rId8"/>
      <p:boldItalic r:id="rId9"/>
    </p:embeddedFont>
    <p:embeddedFont>
      <p:font typeface="Plus Jakarta Sans"/>
      <p:regular r:id="rId10"/>
      <p:bold r:id="rId11"/>
      <p:italic r:id="rId12"/>
      <p:boldItalic r:id="rId13"/>
    </p:embeddedFont>
    <p:embeddedFont>
      <p:font typeface="Fira Code"/>
      <p:regular r:id="rId14"/>
      <p:bold r:id="rId15"/>
    </p:embeddedFont>
    <p:embeddedFont>
      <p:font typeface="Roboto Mono"/>
      <p:regular r:id="rId16"/>
      <p:bold r:id="rId17"/>
      <p:italic r:id="rId18"/>
      <p:boldItalic r:id="rId19"/>
    </p:embeddedFont>
    <p:embeddedFont>
      <p:font typeface="Space Grotesk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regular.fntdata"/><Relationship Id="rId11" Type="http://schemas.openxmlformats.org/officeDocument/2006/relationships/font" Target="fonts/PlusJakartaSans-bold.fntdata"/><Relationship Id="rId10" Type="http://schemas.openxmlformats.org/officeDocument/2006/relationships/font" Target="fonts/PlusJakartaSans-regular.fntdata"/><Relationship Id="rId21" Type="http://schemas.openxmlformats.org/officeDocument/2006/relationships/font" Target="fonts/SpaceGrotesk-bold.fntdata"/><Relationship Id="rId13" Type="http://schemas.openxmlformats.org/officeDocument/2006/relationships/font" Target="fonts/PlusJakartaSans-boldItalic.fntdata"/><Relationship Id="rId12" Type="http://schemas.openxmlformats.org/officeDocument/2006/relationships/font" Target="fonts/PlusJakarta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lusJakartaSansExtraBold-boldItalic.fntdata"/><Relationship Id="rId15" Type="http://schemas.openxmlformats.org/officeDocument/2006/relationships/font" Target="fonts/FiraCode-bold.fntdata"/><Relationship Id="rId14" Type="http://schemas.openxmlformats.org/officeDocument/2006/relationships/font" Target="fonts/FiraCode-regular.fntdata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font" Target="fonts/PlusJakart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1293275"/>
            <a:ext cx="10972800" cy="61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1293275"/>
            <a:ext cx="39300" cy="61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2064751"/>
            <a:ext cx="5372100" cy="2933400"/>
          </a:xfrm>
          <a:prstGeom prst="roundRect">
            <a:avLst>
              <a:gd fmla="val 34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210300" y="2064751"/>
            <a:ext cx="5372100" cy="2933400"/>
          </a:xfrm>
          <a:prstGeom prst="roundRect">
            <a:avLst>
              <a:gd fmla="val 3480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09575" y="5156125"/>
            <a:ext cx="10972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09600" y="457200"/>
            <a:ext cx="1752600" cy="285900"/>
          </a:xfrm>
          <a:prstGeom prst="roundRect">
            <a:avLst>
              <a:gd fmla="val 2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85825" y="4729975"/>
            <a:ext cx="48198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486525" y="4729975"/>
            <a:ext cx="4819800" cy="96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885825" y="2340985"/>
            <a:ext cx="1447800" cy="266700"/>
          </a:xfrm>
          <a:prstGeom prst="roundRect">
            <a:avLst>
              <a:gd fmla="val 21428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6486525" y="2340985"/>
            <a:ext cx="1438200" cy="266700"/>
          </a:xfrm>
          <a:prstGeom prst="roundRect">
            <a:avLst>
              <a:gd fmla="val 21428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4" name="Google Shape;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950" y="533400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25" y="2412423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0825" y="2412423"/>
            <a:ext cx="1428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9584407" y="533400"/>
            <a:ext cx="199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COMPUTER ARCHITECTURE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869300" y="1395968"/>
            <a:ext cx="1061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Abstraction is the foundational technique to manage </a:t>
            </a:r>
            <a:r>
              <a:rPr b="1" lang="en-US" sz="135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complex systems</a:t>
            </a:r>
            <a:r>
              <a:rPr b="1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It simplifies complex systems into multiple hierarchical layers, allowing designers and programmers to focus on higher-level tasks while hiding the internal details of lower levels.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0735825" y="5303875"/>
            <a:ext cx="846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 of 2</a:t>
            </a:r>
            <a:endParaRPr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609600" y="819150"/>
            <a:ext cx="7628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Abstraction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9203990" y="693900"/>
            <a:ext cx="2378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Patterson &amp; Hennessy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971550" y="514350"/>
            <a:ext cx="1571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GREAT IDEA #1 OF 7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885825" y="2741035"/>
            <a:ext cx="632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1900s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885825" y="3122035"/>
            <a:ext cx="491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 computer systems grew in scale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capability, they became more complex.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omputer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architects and programmers had to find ways to work more efficiently.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885825" y="3868019"/>
            <a:ext cx="491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esigning computers 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 say,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writing complex programs would take dramatically longer 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Software Designers / Programmers had to tinker around with barebones electrons.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6486525" y="2741035"/>
            <a:ext cx="570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Layer  </a:t>
            </a:r>
            <a:r>
              <a:rPr b="1" lang="en-US" sz="1250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above</a:t>
            </a:r>
            <a:r>
              <a:rPr b="1" lang="en-US" sz="1650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Layer</a:t>
            </a:r>
            <a:r>
              <a:rPr b="1" lang="en-US" sz="1650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</a:t>
            </a:r>
            <a:r>
              <a:rPr b="1" lang="en-US" sz="1250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above</a:t>
            </a:r>
            <a:r>
              <a:rPr b="1" lang="en-US" sz="1650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Layer  </a:t>
            </a:r>
            <a:r>
              <a:rPr b="1" lang="en-US" sz="1250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above… you get the idea</a:t>
            </a:r>
            <a:endParaRPr sz="1000"/>
          </a:p>
        </p:txBody>
      </p:sp>
      <p:sp>
        <p:nvSpPr>
          <p:cNvPr id="107" name="Google Shape;107;p13"/>
          <p:cNvSpPr txBox="1"/>
          <p:nvPr/>
        </p:nvSpPr>
        <p:spPr>
          <a:xfrm>
            <a:off x="6486525" y="3122035"/>
            <a:ext cx="491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C4A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Abstraction solves this by dividing architecture into well-defined interface boundaries. Lower-level implementation details are concealed beneath intuitive higher-level abstractions.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6486525" y="3870469"/>
            <a:ext cx="491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C4A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Software engineers write code without needing silicon-level knowledge, while chip architects optimize hardware without altering application logic.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1200150" y="2398135"/>
            <a:ext cx="1305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CHALLENGE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6819900" y="2398135"/>
            <a:ext cx="1276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</a:t>
            </a:r>
            <a:r>
              <a:rPr b="1" lang="en-US" sz="975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Solution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609600" y="2242936"/>
            <a:ext cx="3352800" cy="3696000"/>
          </a:xfrm>
          <a:prstGeom prst="roundRect">
            <a:avLst>
              <a:gd fmla="val 3490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4419600" y="2243049"/>
            <a:ext cx="3352800" cy="3696000"/>
          </a:xfrm>
          <a:prstGeom prst="roundRect">
            <a:avLst>
              <a:gd fmla="val 349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8229600" y="2243049"/>
            <a:ext cx="3352800" cy="3696000"/>
          </a:xfrm>
          <a:prstGeom prst="roundRect">
            <a:avLst>
              <a:gd fmla="val 3490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609600" y="6147375"/>
            <a:ext cx="10972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609600" y="457200"/>
            <a:ext cx="2419500" cy="285900"/>
          </a:xfrm>
          <a:prstGeom prst="roundRect">
            <a:avLst>
              <a:gd fmla="val 2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847725" y="5377100"/>
            <a:ext cx="2876700" cy="96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4657725" y="5377100"/>
            <a:ext cx="2876700" cy="96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8467725" y="5377100"/>
            <a:ext cx="2876700" cy="9600"/>
          </a:xfrm>
          <a:prstGeom prst="rect">
            <a:avLst/>
          </a:prstGeom>
          <a:solidFill>
            <a:srgbClr val="D8B4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847725" y="3038360"/>
            <a:ext cx="2876700" cy="400200"/>
          </a:xfrm>
          <a:prstGeom prst="roundRect">
            <a:avLst>
              <a:gd fmla="val 14285" name="adj"/>
            </a:avLst>
          </a:prstGeom>
          <a:solidFill>
            <a:srgbClr val="FFFFFF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4657725" y="3038360"/>
            <a:ext cx="2876700" cy="400200"/>
          </a:xfrm>
          <a:prstGeom prst="roundRect">
            <a:avLst>
              <a:gd fmla="val 14285" name="adj"/>
            </a:avLst>
          </a:prstGeom>
          <a:solidFill>
            <a:srgbClr val="FFFF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8467725" y="3038360"/>
            <a:ext cx="2876700" cy="400200"/>
          </a:xfrm>
          <a:prstGeom prst="roundRect">
            <a:avLst>
              <a:gd fmla="val 14285" name="adj"/>
            </a:avLst>
          </a:prstGeom>
          <a:solidFill>
            <a:srgbClr val="FFFFFF"/>
          </a:solidFill>
          <a:ln cap="flat" cmpd="sng" w="9525">
            <a:solidFill>
              <a:srgbClr val="D8B4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374231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4800" y="374231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" y="5334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3775" y="242876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62825" y="242876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10925" y="242876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9295209" y="457200"/>
            <a:ext cx="228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STORING A VALUE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0731000" y="6290475"/>
            <a:ext cx="851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10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2 of 2 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609600" y="819150"/>
            <a:ext cx="7596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Abstraction ex.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8842474" y="647900"/>
            <a:ext cx="2739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From C Code to Transistor Physics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847725" y="5491400"/>
            <a:ext cx="2971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Hides memory &amp; CPU registers 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4657725" y="5491400"/>
            <a:ext cx="2971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Hides bus &amp; physical addressing 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8467725" y="5491400"/>
            <a:ext cx="2971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Hides physical transistor physics 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952500" y="514350"/>
            <a:ext cx="2428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PRACTICAL DEMONSTRATION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847725" y="2695460"/>
            <a:ext cx="3775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Simple Programmer Syntax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981075" y="3133610"/>
            <a:ext cx="270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66534"/>
                </a:solidFill>
                <a:latin typeface="Fira Code"/>
                <a:ea typeface="Fira Code"/>
                <a:cs typeface="Fira Code"/>
                <a:sym typeface="Fira Code"/>
              </a:rPr>
              <a:t>int x = 5;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847725" y="3571760"/>
            <a:ext cx="2971800" cy="15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Written directly in high-level language ('C'). You simply declare and assign the variable without needing to worry about underlying hardware </a:t>
            </a:r>
            <a:r>
              <a:rPr lang="en-US" sz="1125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instructions or say </a:t>
            </a:r>
            <a:r>
              <a:rPr b="1" lang="en-US" sz="1125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Assembly</a:t>
            </a:r>
            <a:r>
              <a:rPr b="0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br>
              <a:rPr b="0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br>
              <a:rPr b="0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Abstraction </a:t>
            </a:r>
            <a:r>
              <a:rPr lang="en-US" sz="1125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takes away the pain of thinking about      </a:t>
            </a:r>
            <a:r>
              <a:rPr b="1" lang="en-US" sz="1125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ARM </a:t>
            </a:r>
            <a:r>
              <a:rPr lang="en-US" sz="1125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v/s    </a:t>
            </a:r>
            <a:r>
              <a:rPr b="1" lang="en-US" sz="1125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x86 </a:t>
            </a:r>
            <a:r>
              <a:rPr lang="en-US" sz="1125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v/s    </a:t>
            </a:r>
            <a:r>
              <a:rPr b="1" lang="en-US" sz="1125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Apple M</a:t>
            </a:r>
            <a:r>
              <a:rPr lang="en-US" sz="1125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etc. Architectures. 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4657725" y="2695460"/>
            <a:ext cx="3775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Memory Location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4791075" y="3133610"/>
            <a:ext cx="270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40AF"/>
                </a:solidFill>
                <a:latin typeface="Fira Code"/>
                <a:ea typeface="Fira Code"/>
                <a:cs typeface="Fira Code"/>
                <a:sym typeface="Fira Code"/>
              </a:rPr>
              <a:t>MEM[0x7FFE] = 0x05;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4657725" y="3571760"/>
            <a:ext cx="2971800" cy="17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 reality, the value 5 is stored in a memory location. </a:t>
            </a:r>
            <a:r>
              <a:rPr b="0" i="1" lang="en-US" sz="1125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programmer does not need to </a:t>
            </a:r>
            <a:r>
              <a:rPr i="1" lang="en-US" sz="1125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worry about the </a:t>
            </a:r>
            <a:r>
              <a:rPr b="0" i="1" lang="en-US" sz="1125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exact </a:t>
            </a:r>
            <a:r>
              <a:rPr i="1" lang="en-US" sz="1125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details / memory address inside RAM.</a:t>
            </a:r>
            <a:br>
              <a:rPr lang="en-US" sz="1125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br>
              <a:rPr lang="en-US" sz="1125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125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is where </a:t>
            </a:r>
            <a:r>
              <a:rPr b="1" lang="en-US" sz="1125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abstraction </a:t>
            </a:r>
            <a:r>
              <a:rPr lang="en-US" sz="1125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comes in, hiding the underlying </a:t>
            </a:r>
            <a:r>
              <a:rPr lang="en-US" sz="1125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hardware architecture stuffs, which are pretty complex.</a:t>
            </a:r>
            <a:endParaRPr sz="1125">
              <a:solidFill>
                <a:srgbClr val="1E40A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1E40A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8467725" y="2695460"/>
            <a:ext cx="3724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Voltages &amp; Transistors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8601075" y="3133610"/>
            <a:ext cx="270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B21A8"/>
                </a:solidFill>
                <a:latin typeface="Fira Code"/>
                <a:ea typeface="Fira Code"/>
                <a:cs typeface="Fira Code"/>
                <a:sym typeface="Fira Code"/>
              </a:rPr>
              <a:t>00000101 (High/Low V)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8467725" y="3571750"/>
            <a:ext cx="3012600" cy="15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 the hardware level, 5 is </a:t>
            </a:r>
            <a:r>
              <a:rPr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represented using </a:t>
            </a:r>
            <a:r>
              <a:rPr b="0" i="0" lang="en-US" sz="1125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and low </a:t>
            </a:r>
            <a:r>
              <a:rPr b="1" i="0" lang="en-US" sz="1125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transistor voltages</a:t>
            </a:r>
            <a:r>
              <a:rPr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which </a:t>
            </a:r>
            <a:r>
              <a:rPr b="1"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physically </a:t>
            </a:r>
            <a:r>
              <a:rPr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store the binary value 00000101.</a:t>
            </a:r>
            <a:br>
              <a:rPr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br>
              <a:rPr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125">
                <a:solidFill>
                  <a:srgbClr val="6B21A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Abstraction </a:t>
            </a:r>
            <a:r>
              <a:rPr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allows you to simply use </a:t>
            </a:r>
            <a:br>
              <a:rPr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lang="en-US" sz="1125">
                <a:solidFill>
                  <a:srgbClr val="6B21A8"/>
                </a:solidFill>
                <a:latin typeface="Fira Code"/>
                <a:ea typeface="Fira Code"/>
                <a:cs typeface="Fira Code"/>
                <a:sym typeface="Fira Code"/>
              </a:rPr>
              <a:t>int x = 5;</a:t>
            </a:r>
            <a:r>
              <a:rPr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 your code, without having to</a:t>
            </a:r>
            <a:endParaRPr sz="1125">
              <a:solidFill>
                <a:srgbClr val="6B21A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know how to </a:t>
            </a:r>
            <a:r>
              <a:rPr b="0" i="0" lang="en-US" sz="1125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</a:t>
            </a:r>
            <a:r>
              <a:rPr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</a:t>
            </a:r>
            <a:r>
              <a:rPr b="1" i="0" lang="en-US" sz="1125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silicon gates</a:t>
            </a:r>
            <a:r>
              <a:rPr lang="en-US" sz="1125">
                <a:solidFill>
                  <a:srgbClr val="6B21A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b="0" i="0" lang="en-US" sz="1125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 </a:t>
            </a:r>
            <a:r>
              <a:rPr b="0" i="0" lang="en-US" sz="1125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voltage states</a:t>
            </a:r>
            <a:r>
              <a:rPr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/ </a:t>
            </a:r>
            <a:r>
              <a:rPr b="1"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transistors</a:t>
            </a:r>
            <a:r>
              <a:rPr lang="en-US" sz="1125">
                <a:solidFill>
                  <a:srgbClr val="6B21A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all by yourself.</a:t>
            </a:r>
            <a:endParaRPr sz="2700"/>
          </a:p>
        </p:txBody>
      </p:sp>
      <p:sp>
        <p:nvSpPr>
          <p:cNvPr id="149" name="Google Shape;149;p14"/>
          <p:cNvSpPr txBox="1"/>
          <p:nvPr/>
        </p:nvSpPr>
        <p:spPr>
          <a:xfrm>
            <a:off x="847725" y="2433523"/>
            <a:ext cx="220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LEVEL 1 • HIGH-LEVEL CODE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4657725" y="2433523"/>
            <a:ext cx="2371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LEVEL 2 • ARCHITECTURE &amp; OS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8467725" y="2433523"/>
            <a:ext cx="2478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LEVEL 3 • PHYSICAL HARDWARE</a:t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609600" y="1293275"/>
            <a:ext cx="10972800" cy="635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609600" y="1293275"/>
            <a:ext cx="42600" cy="635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869300" y="1395968"/>
            <a:ext cx="1061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Say you want to store the value 5 in a variable called x:</a:t>
            </a:r>
            <a:r>
              <a:rPr lang="en-US" sz="135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You simply write</a:t>
            </a:r>
            <a:r>
              <a:rPr lang="en-US" sz="1350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-US" sz="1350">
                <a:solidFill>
                  <a:srgbClr val="1E293B"/>
                </a:solidFill>
                <a:latin typeface="Fira Code"/>
                <a:ea typeface="Fira Code"/>
                <a:cs typeface="Fira Code"/>
                <a:sym typeface="Fira Code"/>
              </a:rPr>
              <a:t>int x = 5;</a:t>
            </a:r>
            <a:r>
              <a:rPr lang="en-US" sz="1350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-US" sz="135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br>
              <a:rPr lang="en-US" sz="135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 reality, abstraction cloaks the memory mapping and physical transistor states required to fulfill that single command.</a:t>
            </a:r>
            <a:endParaRPr b="1" sz="1350">
              <a:solidFill>
                <a:srgbClr val="1E293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